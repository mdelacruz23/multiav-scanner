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6" r:id="rId9"/>
    <p:sldId id="267" r:id="rId10"/>
    <p:sldId id="274" r:id="rId11"/>
    <p:sldId id="268" r:id="rId12"/>
    <p:sldId id="264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87" d="100"/>
          <a:sy n="87" d="100"/>
        </p:scale>
        <p:origin x="415" y="-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EA716-E81E-40D8-890E-85E2D26EB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789D7-C687-47E4-930F-D6BE7F01C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59789-FA85-44DA-B696-D5E3FD5C2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5B4B4-5086-4A1D-B943-4CC017C32CF0}" type="datetimeFigureOut">
              <a:rPr lang="en-US" smtClean="0"/>
              <a:t>4/21/2022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60E0A-22DD-495C-881D-B1DA2DD2C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B02D8-EE8C-4CED-979E-D8C3C31A0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6957-D8CF-4E8B-8D20-853D6A4529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48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994B4-1A6B-41FC-BCFA-4EFC746CE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C89E8-D1C8-4EF4-9AFF-AEE6E6099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3B986-E174-47ED-A370-046F26028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5B4B4-5086-4A1D-B943-4CC017C32CF0}" type="datetimeFigureOut">
              <a:rPr lang="en-US" smtClean="0"/>
              <a:t>4/21/2022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8499B-CCB6-4152-B03B-8D9858DFF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DC4D5-B065-457F-BF2F-3323158AC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6957-D8CF-4E8B-8D20-853D6A4529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39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5FAB4-E83C-4570-80AA-73E635563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15500-824E-4578-92AB-181404394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F0E24-1A76-4D3F-9C38-2F4A6CF5D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5B4B4-5086-4A1D-B943-4CC017C32CF0}" type="datetimeFigureOut">
              <a:rPr lang="en-US" smtClean="0"/>
              <a:t>4/21/2022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9F736-FA2E-476A-B369-1C39A2D34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A0F79-B9AD-4AE7-AAC9-0F1EEF76F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6957-D8CF-4E8B-8D20-853D6A4529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610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84965-5E51-46AF-92A8-0117FC29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548E-FCEB-4BE6-A954-A717A48E2D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098E90-987F-40B1-A6F6-A97167534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BF27E-CF6B-48DE-A826-82FAF61A3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5B4B4-5086-4A1D-B943-4CC017C32CF0}" type="datetimeFigureOut">
              <a:rPr lang="en-US" smtClean="0"/>
              <a:t>4/21/2022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2CA52-8D49-47C7-9E10-CC9A5EE3D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CD539-97F4-433C-960F-0DA5850FD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6957-D8CF-4E8B-8D20-853D6A4529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336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2E48E-57D9-457C-BDE4-740C0B89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01F91-1A40-4C8C-9CFC-CBF583A8C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27F38-22B3-4BFE-9131-5B33AB587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49E5F7-C9B4-41D8-9C40-83862DCD7B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4DFA5F-5A53-41BA-AC14-E8E49BEE99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29240-6A91-488B-9C74-81E1342EF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5B4B4-5086-4A1D-B943-4CC017C32CF0}" type="datetimeFigureOut">
              <a:rPr lang="en-US" smtClean="0"/>
              <a:t>4/21/2022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E01118-6794-47DF-A4AA-E434E9F90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3753BE-1365-4EC3-98FF-CDD23AB4D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6957-D8CF-4E8B-8D20-853D6A4529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65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9C739-C701-480C-8DE6-0B0326E31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4B9620-0A23-4C5E-9A6B-782BA1F30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5B4B4-5086-4A1D-B943-4CC017C32CF0}" type="datetimeFigureOut">
              <a:rPr lang="en-US" smtClean="0"/>
              <a:t>4/21/2022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5EF54-029E-43F6-A7ED-EB1F9398A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49636-5CAA-4C79-AD80-CC98FD210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6957-D8CF-4E8B-8D20-853D6A4529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488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C1374B-31D2-4D5B-A417-7587B15B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5B4B4-5086-4A1D-B943-4CC017C32CF0}" type="datetimeFigureOut">
              <a:rPr lang="en-US" smtClean="0"/>
              <a:t>4/21/2022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CAFAC9-3860-451B-8454-960E747D3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721DC-F866-4015-A1E8-E516D12EC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6957-D8CF-4E8B-8D20-853D6A4529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40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0158-9DF1-477A-97D1-1D67ADB29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E0E2A-54D4-4AB7-AFDD-567654B35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0B976-C0B0-4B6E-A5AA-D8B1006376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57EC79-79AA-4008-B944-878C305B4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5B4B4-5086-4A1D-B943-4CC017C32CF0}" type="datetimeFigureOut">
              <a:rPr lang="en-US" smtClean="0"/>
              <a:t>4/21/2022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DA386-EF8F-44DB-9070-517150F06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5F394-B21B-4F5B-B7F3-B7DE8807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6957-D8CF-4E8B-8D20-853D6A4529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34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F8012-DF81-4922-89CE-23C5B9EB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106592-E872-42EC-824D-F3229E675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7DC64E-9375-4412-A721-E9E509B82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08BFC-24A6-4B69-AADB-5F555F9C7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5B4B4-5086-4A1D-B943-4CC017C32CF0}" type="datetimeFigureOut">
              <a:rPr lang="en-US" smtClean="0"/>
              <a:t>4/21/2022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29B63-A6B2-41E3-AD10-6DB7EE8F4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CF3EB-01DE-440B-942A-2BB69AF69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6957-D8CF-4E8B-8D20-853D6A4529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953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76179-613F-446C-B718-D089FE5DB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D902E2-BB47-4E62-BC11-8B1D22D12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04449-F7EF-4FED-960D-2DD56C8EE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5B4B4-5086-4A1D-B943-4CC017C32CF0}" type="datetimeFigureOut">
              <a:rPr lang="en-US" smtClean="0"/>
              <a:t>4/21/2022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B7575-4078-4EFC-9FEB-8708DA80D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D8B02-2B04-421C-B67B-7C4959386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6957-D8CF-4E8B-8D20-853D6A4529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650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81B600-C6A5-4E12-8C7E-B0213DDA24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B754C-D644-431D-B2EE-AFEA119D1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84EE2-D935-4928-A873-78BB7A323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5B4B4-5086-4A1D-B943-4CC017C32CF0}" type="datetimeFigureOut">
              <a:rPr lang="en-US" smtClean="0"/>
              <a:t>4/21/2022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D18F7-FED6-4923-8BFC-83D579F83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88087-A769-41DA-8D56-C74C62D7A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6957-D8CF-4E8B-8D20-853D6A4529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300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407A5-9BF5-4A2A-BC78-409C23C45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2B7FA1-7EF7-42F6-991F-4D5646FB5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5DCD2-72C7-4AC6-8AC7-0F07D60C50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5B4B4-5086-4A1D-B943-4CC017C32CF0}" type="datetimeFigureOut">
              <a:rPr lang="en-US" smtClean="0"/>
              <a:t>4/21/2022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C0FC3-2487-4BFC-B5BF-17E23551C3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7D2BF-AE30-4313-8F34-73BDBE1167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56957-D8CF-4E8B-8D20-853D6A4529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39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53957-927F-4802-89E9-0837C4D7AF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GAP MVS </a:t>
            </a:r>
            <a:br>
              <a:rPr lang="en-US" dirty="0"/>
            </a:br>
            <a:r>
              <a:rPr lang="en-US" dirty="0"/>
              <a:t>Multi Virus Scanner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482EEA-EB82-437E-B431-B3F77A4821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313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F0C16D-B464-44FE-BE4F-7CECC2AC82AD}"/>
              </a:ext>
            </a:extLst>
          </p:cNvPr>
          <p:cNvSpPr txBox="1"/>
          <p:nvPr/>
        </p:nvSpPr>
        <p:spPr>
          <a:xfrm>
            <a:off x="861733" y="982176"/>
            <a:ext cx="1058955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Self-monitoring and Recovering provides high 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web-based UI console allows administrators to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monitor status of all processes and critical MVS system objects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Stop/start/restart/disable individual processes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 Status of DATs files with alerts if DATs are not being updated within the defined time period.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Physical resource configuration is automatically adjusted to the deployed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Depending on the configuration option DATs are downloaded either from the Internet or locally from the S3 bucket.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Single Input Queue and Single Output Queue for ALL Drop Zones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Support of Two Scanning Paths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AWS SQS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Kafka messages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Integrated with up domaining flow</a:t>
            </a:r>
          </a:p>
        </p:txBody>
      </p:sp>
    </p:spTree>
    <p:extLst>
      <p:ext uri="{BB962C8B-B14F-4D97-AF65-F5344CB8AC3E}">
        <p14:creationId xmlns:p14="http://schemas.microsoft.com/office/powerpoint/2010/main" val="4261768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249348-BA6C-4AC3-A242-C4C59A574973}"/>
              </a:ext>
            </a:extLst>
          </p:cNvPr>
          <p:cNvSpPr txBox="1"/>
          <p:nvPr/>
        </p:nvSpPr>
        <p:spPr>
          <a:xfrm>
            <a:off x="977620" y="734977"/>
            <a:ext cx="10004612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Supports up to 19 AV engines (currently </a:t>
            </a:r>
            <a:r>
              <a:rPr lang="en-US" sz="2400" dirty="0" err="1"/>
              <a:t>Clamav</a:t>
            </a:r>
            <a:r>
              <a:rPr lang="en-US" sz="2400" dirty="0"/>
              <a:t>, and McAfee AV </a:t>
            </a:r>
            <a:r>
              <a:rPr lang="en-US" sz="2400" dirty="0" err="1"/>
              <a:t>angines</a:t>
            </a:r>
            <a:r>
              <a:rPr lang="en-US" sz="2400" dirty="0"/>
              <a:t> configured and activated)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Configuration files allow MVS to run in a docker container, or Kubernetes pods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Batch oriented scanning to increase efficiency.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Highly parallel execution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400" dirty="0"/>
              <a:t>Parallel downloads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400" dirty="0"/>
              <a:t>Simultaneous scanning of each object by all AV engines and object-level collection of results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400" dirty="0"/>
              <a:t>Batch size-driven dynamically created thread pool scans a set of files in parallel.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Results of AV scanning engines are summarized and clean/infected status is determined for each scanning object.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400" dirty="0"/>
              <a:t>Object has a  clean status only when ALL AV engines mark it as clean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14039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0D15DE-0DD5-4309-99AB-26EE627FB333}"/>
              </a:ext>
            </a:extLst>
          </p:cNvPr>
          <p:cNvSpPr txBox="1"/>
          <p:nvPr/>
        </p:nvSpPr>
        <p:spPr>
          <a:xfrm>
            <a:off x="5637679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00791D-30F4-4206-9C2E-CF3F8A74AF69}"/>
              </a:ext>
            </a:extLst>
          </p:cNvPr>
          <p:cNvSpPr txBox="1"/>
          <p:nvPr/>
        </p:nvSpPr>
        <p:spPr>
          <a:xfrm>
            <a:off x="1277470" y="914400"/>
            <a:ext cx="1000461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Objects are moved/downloaded from the source to MVS scan area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After scan</a:t>
            </a:r>
          </a:p>
          <a:p>
            <a:pPr marL="742950" lvl="1" indent="-285750"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objects are deleted from the 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scan area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42950" lvl="1" indent="-285750"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AWS scanned objects</a:t>
            </a:r>
          </a:p>
          <a:p>
            <a:pPr marL="1200150" lvl="2" indent="-285750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Clean objects -  keys are posted on AWS SQS output queue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200150" lvl="2" indent="-285750"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Clean objects - only tag information is sent to AWS S3 objects</a:t>
            </a:r>
          </a:p>
          <a:p>
            <a:pPr marL="1200150" lvl="2" indent="-285750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Infected objects – moved from input to infected bucket and tagged with scan info including detected virus names from each engine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200150" lvl="2" indent="-285750">
              <a:buFont typeface="Wingdings" panose="05000000000000000000" pitchFamily="2" charset="2"/>
              <a:buChar char="§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42950" lvl="1" indent="-285750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Non-cloud based objects</a:t>
            </a:r>
          </a:p>
          <a:p>
            <a:pPr marL="1200150" lvl="2" indent="-285750"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Clean objects moved to the output area</a:t>
            </a:r>
          </a:p>
          <a:p>
            <a:pPr marL="1200150" lvl="2" indent="-285750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Infected objects moved to the infected area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01001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AAEEB1-9DFB-4711-A85A-DC5232C6921A}"/>
              </a:ext>
            </a:extLst>
          </p:cNvPr>
          <p:cNvSpPr txBox="1"/>
          <p:nvPr/>
        </p:nvSpPr>
        <p:spPr>
          <a:xfrm>
            <a:off x="964826" y="1109382"/>
            <a:ext cx="1072739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Objects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tagged with scanned information</a:t>
            </a:r>
          </a:p>
          <a:p>
            <a:pPr marL="742950" lvl="1" indent="-285750"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AWS scanned objects Tagged with: </a:t>
            </a:r>
          </a:p>
          <a:p>
            <a:pPr marL="1200150" lvl="2" indent="-285750"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List of AV engines </a:t>
            </a:r>
          </a:p>
          <a:p>
            <a:pPr marL="1200150" lvl="2" indent="-285750"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Signatures</a:t>
            </a:r>
          </a:p>
          <a:p>
            <a:pPr marL="1200150" lvl="2" indent="-285750"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Results from each engine</a:t>
            </a:r>
          </a:p>
          <a:p>
            <a:pPr marL="1200150" lvl="2" indent="-285750"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Timestamp</a:t>
            </a:r>
          </a:p>
          <a:p>
            <a:pPr marL="742950" lvl="1" indent="-285750"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Non-cloud based objects provided with the same scan tagging information in Kafka output message</a:t>
            </a:r>
          </a:p>
        </p:txBody>
      </p:sp>
    </p:spTree>
    <p:extLst>
      <p:ext uri="{BB962C8B-B14F-4D97-AF65-F5344CB8AC3E}">
        <p14:creationId xmlns:p14="http://schemas.microsoft.com/office/powerpoint/2010/main" val="808316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B33299-D8BF-4F7D-AE46-2E181BD9166E}"/>
              </a:ext>
            </a:extLst>
          </p:cNvPr>
          <p:cNvSpPr txBox="1"/>
          <p:nvPr/>
        </p:nvSpPr>
        <p:spPr>
          <a:xfrm>
            <a:off x="3576358" y="544606"/>
            <a:ext cx="43803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MVS Logging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A2A843-F568-4A38-B148-64030E286DAE}"/>
              </a:ext>
            </a:extLst>
          </p:cNvPr>
          <p:cNvSpPr txBox="1"/>
          <p:nvPr/>
        </p:nvSpPr>
        <p:spPr>
          <a:xfrm>
            <a:off x="1250017" y="1566582"/>
            <a:ext cx="903306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Accessible from outside container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Log Hierarchy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Root Log directory on the host - /</a:t>
            </a:r>
            <a:r>
              <a:rPr lang="en-US" sz="2400" dirty="0" err="1"/>
              <a:t>srv</a:t>
            </a:r>
            <a:r>
              <a:rPr lang="en-US" sz="2400" dirty="0"/>
              <a:t>/</a:t>
            </a:r>
            <a:r>
              <a:rPr lang="en-US" sz="2400" dirty="0" err="1"/>
              <a:t>mvs</a:t>
            </a:r>
            <a:r>
              <a:rPr lang="en-US" sz="2400" dirty="0"/>
              <a:t>-log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Operational logs information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MVS System Monitor log – monit.log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MVS initialization and processes and critical files status updated every 60 secs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DATs downloads switch log – main_switch.log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Logs MVS instance ID and DATs definition origin (internet/remote or local)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Clamav</a:t>
            </a:r>
            <a:r>
              <a:rPr lang="en-US" sz="2400" dirty="0"/>
              <a:t> log </a:t>
            </a:r>
            <a:r>
              <a:rPr lang="en-US" sz="2400" dirty="0" err="1"/>
              <a:t>dir</a:t>
            </a:r>
            <a:r>
              <a:rPr lang="en-US" sz="2400" dirty="0"/>
              <a:t> – DATs download detailed information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Mcafee</a:t>
            </a:r>
            <a:r>
              <a:rPr lang="en-US" sz="2400" dirty="0"/>
              <a:t> log </a:t>
            </a:r>
            <a:r>
              <a:rPr lang="en-US" sz="2400" dirty="0" err="1"/>
              <a:t>dir</a:t>
            </a:r>
            <a:r>
              <a:rPr lang="en-US" sz="2400" dirty="0"/>
              <a:t> – DATs download detailed information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32624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B628D4-E537-46A4-8058-429B4850A4D5}"/>
              </a:ext>
            </a:extLst>
          </p:cNvPr>
          <p:cNvSpPr txBox="1"/>
          <p:nvPr/>
        </p:nvSpPr>
        <p:spPr>
          <a:xfrm>
            <a:off x="1418663" y="1378325"/>
            <a:ext cx="1047525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MVS scan logs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rotated logs periodically archived by a separate app.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top log directory - 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srv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mvs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-log/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multiav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Separate scan master logs for cloud objects (S3) and non-cloud objects (FS)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mater log contains a timestamped chronological set of records of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each object including  download, scan, result, and all errors and exceptions generated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A s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eparate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log for each drop zone with a timestamped chronological set of records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r each object including download, scan, result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A054A8-3683-499A-8214-208C0F48720C}"/>
              </a:ext>
            </a:extLst>
          </p:cNvPr>
          <p:cNvSpPr txBox="1"/>
          <p:nvPr/>
        </p:nvSpPr>
        <p:spPr>
          <a:xfrm>
            <a:off x="3210484" y="292473"/>
            <a:ext cx="52746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MVS Logging cont.</a:t>
            </a:r>
          </a:p>
        </p:txBody>
      </p:sp>
    </p:spTree>
    <p:extLst>
      <p:ext uri="{BB962C8B-B14F-4D97-AF65-F5344CB8AC3E}">
        <p14:creationId xmlns:p14="http://schemas.microsoft.com/office/powerpoint/2010/main" val="2753095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6EE28-2D02-4C07-AE09-44DB5396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MVS Auto-Scaling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792C3-3488-42DC-BB72-01D2E3FFE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reduce scanning latency the MVS is configured for AWS Auto Scaling </a:t>
            </a:r>
          </a:p>
          <a:p>
            <a:r>
              <a:rPr lang="en-US" dirty="0"/>
              <a:t>Horizontal Scaling out and Scaling in is accomplished through:</a:t>
            </a:r>
          </a:p>
          <a:p>
            <a:pPr lvl="1"/>
            <a:r>
              <a:rPr lang="en-US" dirty="0"/>
              <a:t>a launch template for EC2 instance</a:t>
            </a:r>
          </a:p>
          <a:p>
            <a:pPr lvl="1"/>
            <a:r>
              <a:rPr lang="en-US" dirty="0"/>
              <a:t>CloudWatch alarms for AWS SQS metrics (</a:t>
            </a:r>
            <a:r>
              <a:rPr lang="en-US" dirty="0" err="1"/>
              <a:t>ApproximateAgeOfOldestMessage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Step scaling policies</a:t>
            </a:r>
          </a:p>
          <a:p>
            <a:pPr lvl="1"/>
            <a:r>
              <a:rPr lang="en-US" dirty="0"/>
              <a:t>Scaling triggers 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236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B232B-8F71-4000-A4D7-5CF65D655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MVS Auto-Scaling support 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51EC4-BC6E-4CF7-AA2C-33D00324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Current default configuration of auto-scaling is set to be:</a:t>
            </a:r>
          </a:p>
          <a:p>
            <a:pPr lvl="1">
              <a:defRPr/>
            </a:pPr>
            <a:r>
              <a:rPr lang="en-US" dirty="0"/>
              <a:t>triggered when the SQS messages are on the queue longer than 10 min.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Scaling out MVS to up to five instances </a:t>
            </a:r>
          </a:p>
          <a:p>
            <a:pPr lvl="1">
              <a:spcBef>
                <a:spcPts val="1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Scaling in back to one instance when the SQS messages stay less than 5 mins on the queue.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riggers and scaling configuration can be modified on-the-fly and take immediate effect by changing auto-scaling behavior.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255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DFB01-858F-49F8-8EC2-E5BDC3630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MVS Console for Cloud-Based </a:t>
            </a:r>
            <a:r>
              <a:rPr lang="en-US" dirty="0" err="1"/>
              <a:t>Cponfiguration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6ACF10-9D97-41FA-A250-63245EBF5C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639766"/>
            <a:ext cx="10018835" cy="5161084"/>
          </a:xfrm>
        </p:spPr>
      </p:pic>
    </p:spTree>
    <p:extLst>
      <p:ext uri="{BB962C8B-B14F-4D97-AF65-F5344CB8AC3E}">
        <p14:creationId xmlns:p14="http://schemas.microsoft.com/office/powerpoint/2010/main" val="2873577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4A0DFC-7334-41E2-9376-8CF3C64AA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362" y="681037"/>
            <a:ext cx="8677275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31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1A660B-86EF-465E-9F21-9B29B9E22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550" y="383241"/>
            <a:ext cx="9029700" cy="956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305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44C32-8236-48D6-A188-65BA8F634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Non-cloud based Scanning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C6D82-6B77-4BC5-B85A-8A6684966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MVS can be configured to scan input files in non-cloud based environment. </a:t>
            </a:r>
          </a:p>
          <a:p>
            <a:pPr lvl="1"/>
            <a:r>
              <a:rPr lang="en-US" dirty="0"/>
              <a:t>Utilizing </a:t>
            </a:r>
            <a:r>
              <a:rPr lang="en-US" dirty="0" err="1"/>
              <a:t>NiFi</a:t>
            </a:r>
            <a:r>
              <a:rPr lang="en-US" dirty="0"/>
              <a:t> flows converting request messages into Kafka messages </a:t>
            </a:r>
          </a:p>
          <a:p>
            <a:pPr lvl="1"/>
            <a:r>
              <a:rPr lang="en-US" dirty="0"/>
              <a:t>Reference the </a:t>
            </a:r>
            <a:r>
              <a:rPr lang="en-US" dirty="0" err="1"/>
              <a:t>NiFi</a:t>
            </a:r>
            <a:r>
              <a:rPr lang="en-US" dirty="0"/>
              <a:t> MVS Input Flow and the MVS Output flow templates provided  can be integrated with locally deployed </a:t>
            </a:r>
            <a:r>
              <a:rPr lang="en-US" dirty="0" err="1"/>
              <a:t>updomaining</a:t>
            </a:r>
            <a:r>
              <a:rPr lang="en-US" dirty="0"/>
              <a:t> </a:t>
            </a:r>
            <a:r>
              <a:rPr lang="en-US" dirty="0" err="1"/>
              <a:t>NiFi</a:t>
            </a:r>
            <a:r>
              <a:rPr lang="en-US" dirty="0"/>
              <a:t> flow</a:t>
            </a:r>
          </a:p>
          <a:p>
            <a:pPr lvl="1"/>
            <a:r>
              <a:rPr lang="en-US" dirty="0"/>
              <a:t>Input flow monitors the input directory for dropped in files, converts the notifications into JSON flow files, and composes and posts Kafka messages on the topic </a:t>
            </a:r>
            <a:r>
              <a:rPr lang="en-US" b="1" dirty="0" err="1"/>
              <a:t>kafka-mvs-src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MVS pulls messages from the Kafka Server, parses it, and copies the file to the scan directory.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641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44C32-8236-48D6-A188-65BA8F634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Non-cloud based Scanning </a:t>
            </a:r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C6D82-6B77-4BC5-B85A-8A6684966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Scanning results for each file are collected and the overall scan status is determined (CLEAN or INFECTED)</a:t>
            </a:r>
          </a:p>
          <a:p>
            <a:pPr lvl="1"/>
            <a:r>
              <a:rPr lang="en-US" dirty="0"/>
              <a:t>CLEAN files are moved to the output directory and Kafka messages containing, the file name, overall scan result, the result for each engine, engines used (McAfee, </a:t>
            </a:r>
            <a:r>
              <a:rPr lang="en-US" dirty="0" err="1"/>
              <a:t>Clamav</a:t>
            </a:r>
            <a:r>
              <a:rPr lang="en-US" dirty="0"/>
              <a:t>), and the date of the scan are posted to the Kafka server for the topic </a:t>
            </a:r>
            <a:r>
              <a:rPr lang="en-US" b="1" dirty="0" err="1"/>
              <a:t>kafka-mvs-dst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INFECTED, the files are moved into the infected directory and a Kafka message is posted containing the same information as for clean files </a:t>
            </a:r>
            <a:r>
              <a:rPr lang="en-US" b="1" dirty="0"/>
              <a:t>but also including the virus name found by each of the engines</a:t>
            </a:r>
            <a:r>
              <a:rPr lang="en-US" dirty="0"/>
              <a:t>.</a:t>
            </a:r>
          </a:p>
          <a:p>
            <a:pPr lvl="1"/>
            <a:r>
              <a:rPr lang="en-US" b="0" i="0" dirty="0">
                <a:solidFill>
                  <a:srgbClr val="1D1C1D"/>
                </a:solidFill>
                <a:effectLst/>
                <a:latin typeface="Slack-Lato"/>
              </a:rPr>
              <a:t>The </a:t>
            </a:r>
            <a:r>
              <a:rPr lang="en-US" b="0" i="0" dirty="0" err="1">
                <a:solidFill>
                  <a:srgbClr val="1D1C1D"/>
                </a:solidFill>
                <a:effectLst/>
                <a:latin typeface="Slack-Lato"/>
              </a:rPr>
              <a:t>NiFI</a:t>
            </a:r>
            <a:r>
              <a:rPr lang="en-US" b="0" i="0" dirty="0">
                <a:solidFill>
                  <a:srgbClr val="1D1C1D"/>
                </a:solidFill>
                <a:effectLst/>
                <a:latin typeface="Slack-Lato"/>
              </a:rPr>
              <a:t> MVS Output Flow consumes Kafka messages posted by the MVS to </a:t>
            </a:r>
            <a:r>
              <a:rPr lang="en-US" b="1" i="0" dirty="0" err="1">
                <a:solidFill>
                  <a:srgbClr val="1D1C1D"/>
                </a:solidFill>
                <a:effectLst/>
                <a:latin typeface="Slack-Lato"/>
              </a:rPr>
              <a:t>kafka-mvs-dst</a:t>
            </a:r>
            <a:r>
              <a:rPr lang="en-US" b="0" i="0" dirty="0">
                <a:solidFill>
                  <a:srgbClr val="1D1C1D"/>
                </a:solidFill>
                <a:effectLst/>
                <a:latin typeface="Slack-Lato"/>
              </a:rPr>
              <a:t> topic and continues processing clean files according to the deployment specific requirements.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396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1FCB4-86D6-4ECB-83F2-9A5561600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/>
              <a:t>NiFi</a:t>
            </a:r>
            <a:r>
              <a:rPr lang="en-US" sz="4000" dirty="0"/>
              <a:t> </a:t>
            </a:r>
            <a:r>
              <a:rPr lang="en-US" sz="4000" dirty="0" err="1"/>
              <a:t>Templaces</a:t>
            </a:r>
            <a:r>
              <a:rPr lang="en-US" sz="4000" dirty="0"/>
              <a:t> for Non-Cloud Based MVS scan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596DCB-EAE2-4CE8-8109-C1E5A23A33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551" y="1825625"/>
            <a:ext cx="10276898" cy="4935660"/>
          </a:xfrm>
        </p:spPr>
      </p:pic>
    </p:spTree>
    <p:extLst>
      <p:ext uri="{BB962C8B-B14F-4D97-AF65-F5344CB8AC3E}">
        <p14:creationId xmlns:p14="http://schemas.microsoft.com/office/powerpoint/2010/main" val="446286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DC35E-3981-435B-8580-8C5CA79E3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Non-Cloud Based MVS Output Examples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1B6366-4331-494B-85F8-440F4840C9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97" y="2376870"/>
            <a:ext cx="10515600" cy="106202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8B4BD9-1B4F-4A88-A8F8-4F65417161A6}"/>
              </a:ext>
            </a:extLst>
          </p:cNvPr>
          <p:cNvSpPr txBox="1"/>
          <p:nvPr/>
        </p:nvSpPr>
        <p:spPr>
          <a:xfrm>
            <a:off x="4321371" y="2318722"/>
            <a:ext cx="3549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CLEAN file message output example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A4C23E-A3A1-4B04-BDCB-40AD94996AB1}"/>
              </a:ext>
            </a:extLst>
          </p:cNvPr>
          <p:cNvSpPr txBox="1"/>
          <p:nvPr/>
        </p:nvSpPr>
        <p:spPr>
          <a:xfrm>
            <a:off x="4321371" y="3624705"/>
            <a:ext cx="396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INFECTED file message output example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B038283-4724-4151-8FF1-1463FE214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97" y="4189742"/>
            <a:ext cx="10586841" cy="83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512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8C163-9771-4471-9824-13520962D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MVS Console for Non-Cloud Based Configuration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37DE03-7813-49E5-9848-BBD7473FDA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045" y="1825624"/>
            <a:ext cx="9531909" cy="4561987"/>
          </a:xfrm>
        </p:spPr>
      </p:pic>
    </p:spTree>
    <p:extLst>
      <p:ext uri="{BB962C8B-B14F-4D97-AF65-F5344CB8AC3E}">
        <p14:creationId xmlns:p14="http://schemas.microsoft.com/office/powerpoint/2010/main" val="3334336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902</Words>
  <Application>Microsoft Office PowerPoint</Application>
  <PresentationFormat>Widescreen</PresentationFormat>
  <Paragraphs>91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Slack-Lato</vt:lpstr>
      <vt:lpstr>Wingdings</vt:lpstr>
      <vt:lpstr>Office Theme</vt:lpstr>
      <vt:lpstr>GAP MVS  Multi Virus Scanner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MVS Auto-Scaling support</vt:lpstr>
      <vt:lpstr>MVS Auto-Scaling support cont..</vt:lpstr>
      <vt:lpstr>MVS Console for Cloud-Based Cponfiguration</vt:lpstr>
      <vt:lpstr>PowerPoint Presentation</vt:lpstr>
      <vt:lpstr>PowerPoint Presentation</vt:lpstr>
      <vt:lpstr>Non-cloud based Scanning</vt:lpstr>
      <vt:lpstr>Non-cloud based Scanning cont…</vt:lpstr>
      <vt:lpstr>NiFi Templaces for Non-Cloud Based MVS scan</vt:lpstr>
      <vt:lpstr>Non-Cloud Based MVS Output Examples</vt:lpstr>
      <vt:lpstr>MVS Console for Non-Cloud Based Configuration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MultiAV Engine Virus Scanner</dc:title>
  <dc:creator>Ginalski, Mark</dc:creator>
  <cp:lastModifiedBy>Ginalski, Mark</cp:lastModifiedBy>
  <cp:revision>19</cp:revision>
  <dcterms:created xsi:type="dcterms:W3CDTF">2022-02-14T13:59:16Z</dcterms:created>
  <dcterms:modified xsi:type="dcterms:W3CDTF">2022-04-21T14:14:13Z</dcterms:modified>
</cp:coreProperties>
</file>